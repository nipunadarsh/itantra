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F172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F172A"/>
                </a:solidFill>
                <a:latin typeface="Arial"/>
              </a:rPr>
              <a:t>Seconds of air-time to transmit (log-scale gap, not to true scale)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Time-on-air for a 4-second utterance over a 1.2 kbps link</c:v>
                </c:pt>
              </c:strCache>
            </c:strRef>
          </c:tx>
          <c:spPr>
            <a:solidFill>
              <a:srgbClr val="CBD5E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BD5E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FA968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Raw PCM (256 kbps)</c:v>
                  </c:pt>
                  <c:pt idx="1">
                    <c:v>Opus codec (12 kbps)</c:v>
                  </c:pt>
                  <c:pt idx="2">
                    <c:v>iTantra packet (61 bytes)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853</c:v>
                </c:pt>
                <c:pt idx="1">
                  <c:v>40</c:v>
                </c:pt>
                <c:pt idx="2">
                  <c:v>0.37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E2E1EE"/>
                </a:solidFill>
                <a:latin typeface="Arial"/>
              </a:defRPr>
            </a:pPr>
            <a:r>
              <a:rPr sz="1200" b="0" i="0" u="none" strike="noStrike">
                <a:solidFill>
                  <a:srgbClr val="E2E1EE"/>
                </a:solidFill>
                <a:latin typeface="Arial"/>
              </a:rPr>
              <a:t>Word Error Rate (%) — lower is better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Before fix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E2E1E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Kannada</c:v>
                  </c:pt>
                  <c:pt idx="1">
                    <c:v>Tamil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130</c:v>
                </c:pt>
                <c:pt idx="1">
                  <c:v>100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 fix (all tests)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E2E1E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Kannada</c:v>
                  </c:pt>
                  <c:pt idx="1">
                    <c:v>Tamil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41.7</c:v>
                </c:pt>
                <c:pt idx="1">
                  <c:v>33.3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After fix (audio-valid tests only)</c:v>
                </c:pt>
              </c:strCache>
            </c:strRef>
          </c:tx>
          <c:spPr>
            <a:solidFill>
              <a:srgbClr val="4ADE8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E2E1E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Kannada</c:v>
                  </c:pt>
                  <c:pt idx="1">
                    <c:v>Tamil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12.5</c:v>
                </c:pt>
                <c:pt idx="1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E2E1E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2E1E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D324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CA3A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1131B">
            <a:alpha val="0"/>
          </a:srgbClr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9CA3AF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1131B">
        <a:alpha val="0"/>
      </a:srgbClr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F172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F172A"/>
                </a:solidFill>
                <a:latin typeface="Arial"/>
              </a:rPr>
              <a:t>APK size (GB)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APK size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FA968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Before quantization</c:v>
                  </c:pt>
                  <c:pt idx="1">
                    <c:v>After quantization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1.1</c:v>
                </c:pt>
                <c:pt idx="1">
                  <c:v>0.823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3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2926080"/>
            <a:ext cx="8229600" cy="8229600"/>
          </a:xfrm>
          <a:prstGeom prst="ellipse">
            <a:avLst/>
          </a:prstGeom>
          <a:solidFill>
            <a:srgbClr val="4ADE80">
              <a:alpha val="7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417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26173  ·  ISRO / DEPARTMENT OF SPACE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874520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iTantra</a:t>
            </a:r>
            <a:endParaRPr lang="en-US" sz="6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0632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2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Multilingual Neural Transceiver for Low-Bitrate Voice Links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931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Indian languages</a:t>
            </a:r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100% open-source TinyML  ·  fully offline &amp; air-gapped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470916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191B2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4818888"/>
            <a:ext cx="3108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4ADE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823 MB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56235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APK, int8 throughout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434840" y="470916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191B2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0" y="4818888"/>
            <a:ext cx="3108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4ADE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41.7%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56235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Kannada WER (was 130%)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46720" y="470916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191B2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183880" y="4818888"/>
            <a:ext cx="3108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4ADE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370 ms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8183880" y="56235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payload air-time vs 40 s raw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Hardware-verified on two physical Android devices  ·  2026-09-03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Voice is too heavy for the links that need it most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disaster and distress scenarios, voice is more inclusive than text — it reaches people regardless of literacy. But raw or compressed voice audio cannot fit through narrowband satellite, LoRa, or emergency radio channels in real time.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2468880"/>
          <a:ext cx="66751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498080" y="1417320"/>
            <a:ext cx="4114800" cy="1325880"/>
          </a:xfrm>
          <a:prstGeom prst="roundRect">
            <a:avLst>
              <a:gd name="adj" fmla="val 5517"/>
            </a:avLst>
          </a:prstGeom>
          <a:solidFill>
            <a:srgbClr val="191B2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635240" y="1527048"/>
            <a:ext cx="38404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99.95%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7635240" y="22860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bandwidth reduction vs. raw 16 kHz PCM audio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498080" y="3063240"/>
            <a:ext cx="4114800" cy="1325880"/>
          </a:xfrm>
          <a:prstGeom prst="roundRect">
            <a:avLst>
              <a:gd name="adj" fmla="val 5517"/>
            </a:avLst>
          </a:prstGeom>
          <a:solidFill>
            <a:srgbClr val="0F172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635240" y="315468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4ADE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370 ms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7635240" y="390448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transmit a full spoken sentence over a 1.2 kbps LoRa-class link, vs. 40 s for compressed Opus audio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7498080" y="470916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LoRa/satellite time-on-air figure is a feasibility calculation, not an implemented transport — see dossier §3 and §6.5 for what is and isn't built.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3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OVERVIEW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Speech in, semantic packet across, speech out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97480" cy="4114800"/>
          </a:xfrm>
          <a:prstGeom prst="roundRect">
            <a:avLst>
              <a:gd name="adj" fmla="val 3390"/>
            </a:avLst>
          </a:prstGeom>
          <a:solidFill>
            <a:srgbClr val="191B24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65960"/>
            <a:ext cx="502920" cy="502920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C0E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606040"/>
            <a:ext cx="2295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Capture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3108960"/>
            <a:ext cx="2295144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Silero VAD detects a 500ms pause (Phone Mode) or PTT release, slicing the utterance.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74720" y="1691640"/>
            <a:ext cx="2697480" cy="4114800"/>
          </a:xfrm>
          <a:prstGeom prst="roundRect">
            <a:avLst>
              <a:gd name="adj" fmla="val 3390"/>
            </a:avLst>
          </a:prstGeom>
          <a:solidFill>
            <a:srgbClr val="191B24"/>
          </a:solidFill>
          <a:ln/>
        </p:spPr>
      </p:sp>
      <p:sp>
        <p:nvSpPr>
          <p:cNvPr id="10" name="Shape 8"/>
          <p:cNvSpPr/>
          <p:nvPr/>
        </p:nvSpPr>
        <p:spPr>
          <a:xfrm>
            <a:off x="3703320" y="1965960"/>
            <a:ext cx="502920" cy="502920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70332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C0E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675888" y="2606040"/>
            <a:ext cx="2295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Transcribe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3675888" y="3108960"/>
            <a:ext cx="2295144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STT — SenseVoice for English, dedicated or shared IndicConformer for 9 Indic languages.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0" y="1691640"/>
            <a:ext cx="2697480" cy="4114800"/>
          </a:xfrm>
          <a:prstGeom prst="roundRect">
            <a:avLst>
              <a:gd name="adj" fmla="val 3390"/>
            </a:avLst>
          </a:prstGeom>
          <a:solidFill>
            <a:srgbClr val="191B24"/>
          </a:solidFill>
          <a:ln/>
        </p:spPr>
      </p:sp>
      <p:sp>
        <p:nvSpPr>
          <p:cNvPr id="15" name="Shape 13"/>
          <p:cNvSpPr/>
          <p:nvPr/>
        </p:nvSpPr>
        <p:spPr>
          <a:xfrm>
            <a:off x="6629400" y="1965960"/>
            <a:ext cx="502920" cy="502920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2940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C0E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601968" y="2606040"/>
            <a:ext cx="2295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Transmit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601968" y="3108960"/>
            <a:ext cx="2295144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≈54–61 byte packet: [LANG:xx][ALERT]&lt;text&gt; over Wi-Fi (working) or Bluetooth RFCOMM (built, untested end-to-end).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326880" y="1691640"/>
            <a:ext cx="2697480" cy="4114800"/>
          </a:xfrm>
          <a:prstGeom prst="roundRect">
            <a:avLst>
              <a:gd name="adj" fmla="val 3390"/>
            </a:avLst>
          </a:prstGeom>
          <a:solidFill>
            <a:srgbClr val="191B24"/>
          </a:solidFill>
          <a:ln/>
        </p:spPr>
      </p:sp>
      <p:sp>
        <p:nvSpPr>
          <p:cNvPr id="20" name="Shape 18"/>
          <p:cNvSpPr/>
          <p:nvPr/>
        </p:nvSpPr>
        <p:spPr>
          <a:xfrm>
            <a:off x="9555480" y="1965960"/>
            <a:ext cx="502920" cy="502920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55548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C0E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9528048" y="2606040"/>
            <a:ext cx="2295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Speak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9528048" y="3108960"/>
            <a:ext cx="2295144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Receiver synthesizes via bundled Piper VITS (7 languages) or device TTS (3 languages); [ALERT] forces STREAM_ALARM at max volume, non-interruptible.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989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operating modes: </a:t>
            </a:r>
            <a:pPr indent="0" marL="0">
              <a:buNone/>
            </a:pPr>
            <a:r>
              <a:rPr lang="en-US" sz="12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Push-to-Talk walkie-talkie, or hands-free Phone Mode with automatic VAD-triggered dispatch.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FOUND ON REAL HARDWARE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bug wasn't the script. It was the model.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Kannada, Telugu and Tamil were transcribing at 100–130% word error rate. Our working theory was a Devanagari-vocabulary bias fixable with a Unicode script shift. Testing on real hardware disproved it.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06984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221992"/>
            <a:ext cx="2377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disproof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3291840" y="2221992"/>
            <a:ext cx="7772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Marathi is already in Devanagari — zero script conversion needed — and it failed just as badly (81.9% WER). A script fix cannot explain a same-script failure.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3172968"/>
            <a:ext cx="10698480" cy="9144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3246120"/>
            <a:ext cx="2377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real cause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3291840" y="3246120"/>
            <a:ext cx="7772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inspection of the shipped ONNX model's own metadata confirmed it was a single shared checkpoint with no language-selection mechanism, silently defaulting to one fixed behavior for every input — even pure silence.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4197096"/>
            <a:ext cx="106984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4270248"/>
            <a:ext cx="2377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fix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3291840" y="4270248"/>
            <a:ext cx="7772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Sourced and hash-verified dedicated, independently-trained per-language checkpoints for Kannada, Telugu and Tamil before integrating any of them.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5221224"/>
            <a:ext cx="10698480" cy="9144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5294376"/>
            <a:ext cx="2377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verification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3291840" y="5294376"/>
            <a:ext cx="7772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crash bugs were found and fixed only because of on-device re-testing — a missing-metadata crash and an unparseable-token crash — neither visible from a desktop build.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3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RESULTS — HARDWARE-MEASURED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Real, measured improvement on 2 languages. Not overclaiming the rest.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64008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315200" y="173736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Telugu: directionally consistent (100% → 66.7%) but only 1 of 3 tests got real audio — not claimed as proven.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7315200" y="2514600"/>
            <a:ext cx="4297680" cy="3200400"/>
          </a:xfrm>
          <a:prstGeom prst="roundRect">
            <a:avLst>
              <a:gd name="adj" fmla="val 2286"/>
            </a:avLst>
          </a:prstGeom>
          <a:solidFill>
            <a:srgbClr val="191B2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543800" y="26974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Still broken — disclosed, not hidden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543800" y="3108960"/>
            <a:ext cx="38404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2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Gujarati · Marathi · Malayalam · Odia · Bengali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2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remain on the original shared STT model at 78–180% WER. No fix attempted this pass — tracked as explicit open work in dossier §6.3.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Shrinking the app without touching a single feature</a:t>
            </a:r>
            <a:endParaRPr lang="en-US" sz="27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51206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035040" y="1600200"/>
            <a:ext cx="1874520" cy="4206240"/>
          </a:xfrm>
          <a:prstGeom prst="roundRect">
            <a:avLst>
              <a:gd name="adj" fmla="val 3902"/>
            </a:avLst>
          </a:prstGeom>
          <a:solidFill>
            <a:srgbClr val="0F172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172200" y="178308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DE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3.4×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6172200" y="2606040"/>
            <a:ext cx="16002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— all 7 Piper TTS voices, int8 dynamic quantization (Jacob et al., CVPR 2018)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8092440" y="1600200"/>
            <a:ext cx="1874520" cy="4206240"/>
          </a:xfrm>
          <a:prstGeom prst="roundRect">
            <a:avLst>
              <a:gd name="adj" fmla="val 3902"/>
            </a:avLst>
          </a:prstGeom>
          <a:solidFill>
            <a:srgbClr val="0F172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229600" y="178308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DE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8229600" y="2606040"/>
            <a:ext cx="16002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crashes across a full 30-test on-device re-run after quantization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10149840" y="1600200"/>
            <a:ext cx="1874520" cy="4206240"/>
          </a:xfrm>
          <a:prstGeom prst="roundRect">
            <a:avLst>
              <a:gd name="adj" fmla="val 3902"/>
            </a:avLst>
          </a:prstGeom>
          <a:solidFill>
            <a:srgbClr val="0F172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0287000" y="178308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DE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~1.8 GB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10287000" y="2606040"/>
            <a:ext cx="16002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on-device footprint after install — ONNX Runtime needs a decompressed copy; see dossier §6.4 for what was and wasn't feasible to fix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3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STATUS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proven, and what isn't yet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4480560"/>
          </a:xfrm>
          <a:prstGeom prst="roundRect">
            <a:avLst>
              <a:gd name="adj" fmla="val 2041"/>
            </a:avLst>
          </a:prstGeom>
          <a:solidFill>
            <a:srgbClr val="191B2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874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31720"/>
            <a:ext cx="4846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✓"/>
            </a:pPr>
            <a:r>
              <a:rPr lang="en-US" sz="1250" dirty="0">
                <a:solidFill>
                  <a:srgbClr val="E2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transport (UDP discovery + TCP full-duplex) — implemented and working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✓"/>
            </a:pPr>
            <a:r>
              <a:rPr lang="en-US" sz="1250" dirty="0">
                <a:solidFill>
                  <a:srgbClr val="E2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Bluetooth Classic RFCOMM transport — implemented, device picker built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✓"/>
            </a:pPr>
            <a:r>
              <a:rPr lang="en-US" sz="1250" dirty="0">
                <a:solidFill>
                  <a:srgbClr val="E2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STT/TTS pipeline benchmarked on 2 physical Android devices, 30 utterances each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✓"/>
            </a:pPr>
            <a:r>
              <a:rPr lang="en-US" sz="1250" dirty="0">
                <a:solidFill>
                  <a:srgbClr val="E2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Kannada + Tamil STT accuracy fix — hardware-verified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✓"/>
            </a:pPr>
            <a:r>
              <a:rPr lang="en-US" sz="1250" dirty="0">
                <a:solidFill>
                  <a:srgbClr val="E2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 quantization (3.4× smaller) — hardware-verified, zero regressions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691640"/>
            <a:ext cx="5394960" cy="4480560"/>
          </a:xfrm>
          <a:prstGeom prst="roundRect">
            <a:avLst>
              <a:gd name="adj" fmla="val 2041"/>
            </a:avLst>
          </a:prstGeom>
          <a:solidFill>
            <a:srgbClr val="191B2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46520" y="1874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46520" y="2331720"/>
            <a:ext cx="4846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✗"/>
            </a:pPr>
            <a:r>
              <a:rPr lang="en-US" sz="1250" dirty="0">
                <a:solidFill>
                  <a:srgbClr val="E2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Two-device Wi-Fi/Bluetooth PTT round trip — not yet run end-to-end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✗"/>
            </a:pPr>
            <a:r>
              <a:rPr lang="en-US" sz="1250" dirty="0">
                <a:solidFill>
                  <a:srgbClr val="E2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Gujarati, Marathi, Malayalam, Odia, Bengali STT — still broken, unfixed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✗"/>
            </a:pPr>
            <a:r>
              <a:rPr lang="en-US" sz="1250" dirty="0">
                <a:solidFill>
                  <a:srgbClr val="E2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Telugu accuracy — directionally promising, statistically thin (n=1 clean sample)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✗"/>
            </a:pPr>
            <a:r>
              <a:rPr lang="en-US" sz="1250" dirty="0">
                <a:solidFill>
                  <a:srgbClr val="E2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CPU / RAM figures — carried forward from an earlier pass, not re-profiled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3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FOUNDATIONS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on peer-reviewed work, not marketing claims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4ADE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Bhogale et al.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3017520" y="169164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Vistaar: Diverse Speech Recognition Datasets for Indian Languages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509760" y="16916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Interspeech 2023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25856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4ADE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et al.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3017520" y="2258568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FunAudioLLM: Voice Understanding &amp; Generation Foundation Models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509760" y="225856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arXiv:2407.04051, 2024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82549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4ADE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Kim, Kong &amp; Son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3017520" y="2825496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VAE with Adversarial Learning for End-to-End TTS (VITS)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9509760" y="2825496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ICML 2021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392424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4ADE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Silero Team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3017520" y="3392424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Silero VAD: Pre-trained Enterprise-Grade Voice Activity Detector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509760" y="3392424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95935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4ADE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Jacob et al.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3017520" y="3959352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Quantization and Training of Neural Networks for Efficient Integer-Only Inference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509760" y="395935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CVPR 2018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5262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4ADE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Bureau of Indian Standards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3017520" y="45262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13194:1991 — Indian Script Code for Information Interchange (ISCII)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9509760" y="45262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1991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553212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191B2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22960" y="56692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 </a:t>
            </a:r>
            <a:pPr indent="0" marL="0">
              <a:buNone/>
            </a:pPr>
            <a:r>
              <a:rPr lang="en-US" sz="1300" dirty="0">
                <a:solidFill>
                  <a:srgbClr val="E2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in this deck is reproducible from </a:t>
            </a:r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docs/SIH_2026_RESEARCH_DOSSIER.md</a:t>
            </a:r>
            <a:pPr indent="0" marL="0">
              <a:buNone/>
            </a:pPr>
            <a:r>
              <a:rPr lang="en-US" sz="1300" dirty="0">
                <a:solidFill>
                  <a:srgbClr val="E2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the app's own on-device benchmark harness.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2026-09-03T09:01:52Z</dcterms:created>
  <dcterms:modified xsi:type="dcterms:W3CDTF">2026-09-03T09:01:52Z</dcterms:modified>
</cp:coreProperties>
</file>